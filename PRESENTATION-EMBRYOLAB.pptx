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5120640"/>
            <a:ext cx="11868912" cy="36576"/>
          </a:xfrm>
          <a:prstGeom prst="rect">
            <a:avLst/>
          </a:prstGeom>
          <a:solidFill>
            <a:srgbClr val="A0855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8558"/>
                </a:solidFill>
                <a:latin typeface="Calibri"/>
              </a:rPr>
              <a:t>CONFIDENTIAL  ·  RESEARCH PROTOTYPE  ·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Georgia"/>
              </a:rPr>
              <a:t>Billing Compliance
for Private Clinics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5B8"/>
                </a:solidFill>
                <a:latin typeface="Calibri"/>
              </a:rPr>
              <a:t>A research prototype that automatically detects billing errors
in private healthcare — tested on 506 real invoices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5029200" cy="1005840"/>
          </a:xfrm>
          <a:prstGeom prst="rect">
            <a:avLst/>
          </a:prstGeom>
          <a:solidFill>
            <a:srgbClr val="2A26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</a:rPr>
              <a:t>Maria Polychroniadou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5604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090"/>
                </a:solidFill>
                <a:latin typeface="Calibri"/>
              </a:rPr>
              <a:t>PhD Researcher  ·  HealthLedgerAI Founder
BSc International Management  ·  MSc Accounting &amp;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645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8558"/>
                </a:solidFill>
                <a:latin typeface="Calibri"/>
              </a:rPr>
              <a:t>Presented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91947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Embryolab Fertility Clinic
Thessaloniki, Greece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9224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090"/>
                </a:solidFill>
                <a:latin typeface="Calibri"/>
              </a:rPr>
              <a:t>HealthLedgerAI  ·  healthledgerai.com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070"/>
                </a:solidFill>
                <a:latin typeface="Calibri"/>
              </a:rPr>
              <a:t>2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0"/>
            <a:ext cx="12024360" cy="640080"/>
          </a:xfrm>
          <a:prstGeom prst="rect">
            <a:avLst/>
          </a:prstGeom>
          <a:solidFill>
            <a:srgbClr val="F5F0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8558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614"/>
                </a:solidFill>
                <a:latin typeface="Georgia"/>
              </a:rPr>
              <a:t>Private clinics lose money on billing errors they cannot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11274552" cy="27432"/>
          </a:xfrm>
          <a:prstGeom prst="rect">
            <a:avLst/>
          </a:prstGeom>
          <a:solidFill>
            <a:srgbClr val="C9AA7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651760" cy="1463040"/>
          </a:xfrm>
          <a:prstGeom prst="rect">
            <a:avLst/>
          </a:prstGeom>
          <a:solidFill>
            <a:srgbClr val="FAEAE7"/>
          </a:solidFill>
          <a:ln w="9525">
            <a:solidFill>
              <a:srgbClr val="B0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2996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3A2A"/>
                </a:solidFill>
                <a:latin typeface="Calibri"/>
              </a:rPr>
              <a:t>🔴  Duplicate Invoices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438"/>
                </a:solidFill>
                <a:latin typeface="Calibri"/>
              </a:rPr>
              <a:t>The same procedure billed twice to the same insurer — often months apart. Insurers detect these and claw back payments with penalties.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920240"/>
            <a:ext cx="2651760" cy="1463040"/>
          </a:xfrm>
          <a:prstGeom prst="rect">
            <a:avLst/>
          </a:prstGeom>
          <a:solidFill>
            <a:srgbClr val="FAEAE7"/>
          </a:solidFill>
          <a:ln w="9525">
            <a:solidFill>
              <a:srgbClr val="B0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02996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3A2A"/>
                </a:solidFill>
                <a:latin typeface="Calibri"/>
              </a:rPr>
              <a:t>🔴  Upcoding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95728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438"/>
                </a:solidFill>
                <a:latin typeface="Calibri"/>
              </a:rPr>
              <a:t>A procedure billed above its EOPYY or insurer maximum rate. A single audit trigger that puts your entire insurer contract at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2651760" cy="1463040"/>
          </a:xfrm>
          <a:prstGeom prst="rect">
            <a:avLst/>
          </a:prstGeom>
          <a:solidFill>
            <a:srgbClr val="FAEAE7"/>
          </a:solidFill>
          <a:ln w="9525">
            <a:solidFill>
              <a:srgbClr val="B0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2996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3A2A"/>
                </a:solidFill>
                <a:latin typeface="Calibri"/>
              </a:rPr>
              <a:t>🔴  Phantom Billing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95728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438"/>
                </a:solidFill>
                <a:latin typeface="Calibri"/>
              </a:rPr>
              <a:t>An invoice raised for a date when the patient has no recorded appointment. In a routine audit, this looks like fraud.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920240"/>
            <a:ext cx="2651760" cy="1463040"/>
          </a:xfrm>
          <a:prstGeom prst="rect">
            <a:avLst/>
          </a:prstGeom>
          <a:solidFill>
            <a:srgbClr val="FEF3E2"/>
          </a:solidFill>
          <a:ln w="9525">
            <a:solidFill>
              <a:srgbClr val="B0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02996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6A1A"/>
                </a:solidFill>
                <a:latin typeface="Calibri"/>
              </a:rPr>
              <a:t>🟡  Unbundling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395728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438"/>
                </a:solidFill>
                <a:latin typeface="Calibri"/>
              </a:rPr>
              <a:t>Procedure components that should be billed as one bundled code are billed individually — inflating the total without clinical justification.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070"/>
                </a:solidFill>
                <a:latin typeface="Calibri"/>
              </a:rPr>
              <a:t>In a dataset of 506 invoices modelled on private clinic billing, HealthLedgerAI detected 70 alerts across 8 error 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9224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090"/>
                </a:solidFill>
                <a:latin typeface="Calibri"/>
              </a:rPr>
              <a:t>HealthLedgerAI  ·  healthledgerai.com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070"/>
                </a:solidFill>
                <a:latin typeface="Calibri"/>
              </a:rPr>
              <a:t>3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0"/>
            <a:ext cx="12024360" cy="640080"/>
          </a:xfrm>
          <a:prstGeom prst="rect">
            <a:avLst/>
          </a:prstGeom>
          <a:solidFill>
            <a:srgbClr val="F5F0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8558"/>
                </a:solidFill>
                <a:latin typeface="Calibri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A1614"/>
                </a:solidFill>
                <a:latin typeface="Georgia"/>
              </a:rPr>
              <a:t>HealthLedgerAI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438"/>
                </a:solidFill>
                <a:latin typeface="Calibri"/>
              </a:rPr>
              <a:t>Automated billing compliance — in seconds, not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1274552" cy="27432"/>
          </a:xfrm>
          <a:prstGeom prst="rect">
            <a:avLst/>
          </a:prstGeom>
          <a:solidFill>
            <a:srgbClr val="C9AA7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383280" cy="1417320"/>
          </a:xfrm>
          <a:prstGeom prst="rect">
            <a:avLst/>
          </a:prstGeom>
          <a:solidFill>
            <a:srgbClr val="EBF2EE"/>
          </a:solidFill>
          <a:ln w="9525">
            <a:solidFill>
              <a:srgbClr val="3D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3D6B52"/>
                </a:solidFill>
                <a:latin typeface="Georgia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438"/>
                </a:solidFill>
                <a:latin typeface="Calibri"/>
              </a:rPr>
              <a:t>Detectors running
in parallel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011680"/>
            <a:ext cx="3383280" cy="1417320"/>
          </a:xfrm>
          <a:prstGeom prst="rect">
            <a:avLst/>
          </a:prstGeom>
          <a:solidFill>
            <a:srgbClr val="EBF2EE"/>
          </a:solidFill>
          <a:ln w="9525">
            <a:solidFill>
              <a:srgbClr val="3D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08483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3D6B52"/>
                </a:solidFill>
                <a:latin typeface="Georgia"/>
              </a:rPr>
              <a:t>506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438"/>
                </a:solidFill>
                <a:latin typeface="Calibri"/>
              </a:rPr>
              <a:t>Invoices analysed
in the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011680"/>
            <a:ext cx="3383280" cy="1417320"/>
          </a:xfrm>
          <a:prstGeom prst="rect">
            <a:avLst/>
          </a:prstGeom>
          <a:solidFill>
            <a:srgbClr val="EBF2EE"/>
          </a:solidFill>
          <a:ln w="9525">
            <a:solidFill>
              <a:srgbClr val="3D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84831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3D6B52"/>
                </a:solidFill>
                <a:latin typeface="Georgia"/>
              </a:rP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438"/>
                </a:solidFill>
                <a:latin typeface="Calibri"/>
              </a:rPr>
              <a:t>Alerts flagged
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614"/>
                </a:solidFill>
                <a:latin typeface="Georgia"/>
              </a:rPr>
              <a:t>How it 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4552" cy="438912"/>
          </a:xfrm>
          <a:prstGeom prst="rect">
            <a:avLst/>
          </a:prstGeom>
          <a:solidFill>
            <a:srgbClr val="F5F0E8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50791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01   Upload your billing data  —  invoices, appointments, procedure rates, insurer networks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537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02   The prototype runs 11 detectors automatically across the full 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74552" cy="438912"/>
          </a:xfrm>
          <a:prstGeom prst="rect">
            <a:avLst/>
          </a:prstGeom>
          <a:solidFill>
            <a:srgbClr val="F5F0E8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56631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03   Output: a plain Excel report with every alert, its risk level, and a recommended 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32120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59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04   Your billing team works through the report  —  no special software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9224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090"/>
                </a:solidFill>
                <a:latin typeface="Calibri"/>
              </a:rPr>
              <a:t>HealthLedgerAI  ·  healthledgerai.com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070"/>
                </a:solidFill>
                <a:latin typeface="Calibri"/>
              </a:rPr>
              <a:t>4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0"/>
            <a:ext cx="12024360" cy="640080"/>
          </a:xfrm>
          <a:prstGeom prst="rect">
            <a:avLst/>
          </a:prstGeom>
          <a:solidFill>
            <a:srgbClr val="F5F0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8558"/>
                </a:solidFill>
                <a:latin typeface="Calibri"/>
              </a:rPr>
              <a:t>LIVE DEMO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614"/>
                </a:solidFill>
                <a:latin typeface="Georgia"/>
              </a:rPr>
              <a:t>What the alert report looks like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1274552" cy="27432"/>
          </a:xfrm>
          <a:prstGeom prst="rect">
            <a:avLst/>
          </a:prstGeom>
          <a:solidFill>
            <a:srgbClr val="C9AA7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1274552" cy="50292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506 invoices analysed     |     70 alerts flagged     |     53 HIGH priority     |     17 MEDIUM 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274552" cy="914400"/>
          </a:xfrm>
          <a:prstGeom prst="rect">
            <a:avLst/>
          </a:prstGeom>
          <a:solidFill>
            <a:srgbClr val="FAEAE7"/>
          </a:solidFill>
          <a:ln w="12700">
            <a:solidFill>
              <a:srgbClr val="B0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73152" cy="914400"/>
          </a:xfrm>
          <a:prstGeom prst="rect">
            <a:avLst/>
          </a:prstGeom>
          <a:solidFill>
            <a:srgbClr val="B03A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03704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A"/>
                </a:solidFill>
                <a:latin typeface="Calibri"/>
              </a:rPr>
              <a:t>🔴  D1 · Duplicate Invoice  —  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47802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4"/>
                </a:solidFill>
                <a:latin typeface="Calibri"/>
              </a:rPr>
              <a:t>Vendor 'Radiology Dept'  |  Amount €145  |  Date 2026-02-03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3405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8070"/>
                </a:solidFill>
                <a:latin typeface="Calibri"/>
              </a:rPr>
              <a:t>Action: Same invoice billed twice. Reject duplicate before payment to avoid insurer clawback.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36392"/>
            <a:ext cx="11274552" cy="914400"/>
          </a:xfrm>
          <a:prstGeom prst="rect">
            <a:avLst/>
          </a:prstGeom>
          <a:solidFill>
            <a:srgbClr val="FAEAE7"/>
          </a:solidFill>
          <a:ln w="12700">
            <a:solidFill>
              <a:srgbClr val="B0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36392"/>
            <a:ext cx="73152" cy="914400"/>
          </a:xfrm>
          <a:prstGeom prst="rect">
            <a:avLst/>
          </a:prstGeom>
          <a:solidFill>
            <a:srgbClr val="B03A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19125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A"/>
                </a:solidFill>
                <a:latin typeface="Calibri"/>
              </a:rPr>
              <a:t>🔴  D2 · Upcoding  —  HIGH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46557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4"/>
                </a:solidFill>
                <a:latin typeface="Calibri"/>
              </a:rPr>
              <a:t>Procedure billed at €806  |  Maximum allowed: €620  |  Excess: €186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216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8070"/>
                </a:solidFill>
                <a:latin typeface="Calibri"/>
              </a:rPr>
              <a:t>Action: Withhold payment. Request clinical justification. Risk of EOPYY audit flag.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23944"/>
            <a:ext cx="11274552" cy="914400"/>
          </a:xfrm>
          <a:prstGeom prst="rect">
            <a:avLst/>
          </a:prstGeom>
          <a:solidFill>
            <a:srgbClr val="FAEAE7"/>
          </a:solidFill>
          <a:ln w="12700">
            <a:solidFill>
              <a:srgbClr val="B0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23944"/>
            <a:ext cx="73152" cy="914400"/>
          </a:xfrm>
          <a:prstGeom prst="rect">
            <a:avLst/>
          </a:prstGeom>
          <a:solidFill>
            <a:srgbClr val="B03A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178807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A"/>
                </a:solidFill>
                <a:latin typeface="Calibri"/>
              </a:rPr>
              <a:t>🔴  D4 · Phantom Billing  —  HIGH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45312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4"/>
                </a:solidFill>
                <a:latin typeface="Calibri"/>
              </a:rPr>
              <a:t>Patient P047  |  Invoice date: 2026-03-14  |  No appointment record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70915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8070"/>
                </a:solidFill>
                <a:latin typeface="Calibri"/>
              </a:rPr>
              <a:t>Action: Verify patient was present. Do not submit to insurer without confirmation.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11496"/>
            <a:ext cx="11274552" cy="914400"/>
          </a:xfrm>
          <a:prstGeom prst="rect">
            <a:avLst/>
          </a:prstGeom>
          <a:solidFill>
            <a:srgbClr val="FEF3E2"/>
          </a:solidFill>
          <a:ln w="12700">
            <a:solidFill>
              <a:srgbClr val="B0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11496"/>
            <a:ext cx="73152" cy="914400"/>
          </a:xfrm>
          <a:prstGeom prst="rect">
            <a:avLst/>
          </a:prstGeom>
          <a:solidFill>
            <a:srgbClr val="B06A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166359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6A1A"/>
                </a:solidFill>
                <a:latin typeface="Calibri"/>
              </a:rPr>
              <a:t>🟡  D11 · Repeated Same-Day Procedure  —  MEDIUM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44068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4"/>
                </a:solidFill>
                <a:latin typeface="Calibri"/>
              </a:rPr>
              <a:t>Same procedure billed 3× on the same day for the same patient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6967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8070"/>
                </a:solidFill>
                <a:latin typeface="Calibri"/>
              </a:rPr>
              <a:t>Action: Verify clinical notes confirm multiple administrations before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9224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090"/>
                </a:solidFill>
                <a:latin typeface="Calibri"/>
              </a:rPr>
              <a:t>HealthLedgerAI  ·  healthledgerai.com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070"/>
                </a:solidFill>
                <a:latin typeface="Calibri"/>
              </a:rPr>
              <a:t>5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0"/>
            <a:ext cx="12024360" cy="640080"/>
          </a:xfrm>
          <a:prstGeom prst="rect">
            <a:avLst/>
          </a:prstGeom>
          <a:solidFill>
            <a:srgbClr val="F5F0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8558"/>
                </a:solidFill>
                <a:latin typeface="Calibri"/>
              </a:rPr>
              <a:t>RELEVANCE TO EMBRYOLAB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614"/>
                </a:solidFill>
                <a:latin typeface="Georgia"/>
              </a:rPr>
              <a:t>Why fertility clinics are a natural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1274552" cy="27432"/>
          </a:xfrm>
          <a:prstGeom prst="rect">
            <a:avLst/>
          </a:prstGeom>
          <a:solidFill>
            <a:srgbClr val="C9AA7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" cy="82296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4"/>
                </a:solidFill>
                <a:latin typeface="Calibri"/>
              </a:rPr>
              <a:t>EOPYY + Private Insurers Simultaneously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438"/>
                </a:solidFill>
                <a:latin typeface="Calibri"/>
              </a:rPr>
              <a:t>IVF is covered by EOPYY up to 3 cycles for women under 50. Clinics bill two systems with different rules for the same patient — mixed billing is where errors concentrate.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1274552" cy="18288"/>
          </a:xfrm>
          <a:prstGeom prst="rect">
            <a:avLst/>
          </a:prstGeom>
          <a:solidFill>
            <a:srgbClr val="DDD5C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42032"/>
            <a:ext cx="54864" cy="82296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4"/>
                </a:solidFill>
                <a:latin typeface="Calibri"/>
              </a:rPr>
              <a:t>High Procedure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437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438"/>
                </a:solidFill>
                <a:latin typeface="Calibri"/>
              </a:rPr>
              <a:t>A single IVF cycle costs €3,000–€6,000. One upcoding or duplicate billing error at this scale represents significant financial exposure per incident.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10712"/>
            <a:ext cx="11274552" cy="18288"/>
          </a:xfrm>
          <a:prstGeom prst="rect">
            <a:avLst/>
          </a:prstGeom>
          <a:solidFill>
            <a:srgbClr val="DDD5C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29584"/>
            <a:ext cx="54864" cy="82296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47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4"/>
                </a:solidFill>
                <a:latin typeface="Calibri"/>
              </a:rPr>
              <a:t>Multi-Step Billing Sequences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313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438"/>
                </a:solidFill>
                <a:latin typeface="Calibri"/>
              </a:rPr>
              <a:t>Each cycle generates 8–12 separate billing events: consultations, lab work, anaesthesia, embryology, medications. Date mismatches and duplicates are common at this volume.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98264"/>
            <a:ext cx="11274552" cy="18288"/>
          </a:xfrm>
          <a:prstGeom prst="rect">
            <a:avLst/>
          </a:prstGeom>
          <a:solidFill>
            <a:srgbClr val="DDD5C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517136"/>
            <a:ext cx="54864" cy="82296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354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4"/>
                </a:solidFill>
                <a:latin typeface="Calibri"/>
              </a:rPr>
              <a:t>ISO-Certified Environment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18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438"/>
                </a:solidFill>
                <a:latin typeface="Calibri"/>
              </a:rPr>
              <a:t>Embryolab holds ISO 9001:2015 and EN 15224 certification — meaning it already operates to documented process standards. A billing compliance tool fits naturally into that framework.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85816"/>
            <a:ext cx="11274552" cy="18288"/>
          </a:xfrm>
          <a:prstGeom prst="rect">
            <a:avLst/>
          </a:prstGeom>
          <a:solidFill>
            <a:srgbClr val="DDD5C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9224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090"/>
                </a:solidFill>
                <a:latin typeface="Calibri"/>
              </a:rPr>
              <a:t>HealthLedgerAI  ·  healthledgerai.com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070"/>
                </a:solidFill>
                <a:latin typeface="Calibri"/>
              </a:rPr>
              <a:t>6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0"/>
            <a:ext cx="12024360" cy="640080"/>
          </a:xfrm>
          <a:prstGeom prst="rect">
            <a:avLst/>
          </a:prstGeom>
          <a:solidFill>
            <a:srgbClr val="F5F0E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8558"/>
                </a:solidFill>
                <a:latin typeface="Calibri"/>
              </a:rPr>
              <a:t>WHAT I AM ASKING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98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614"/>
                </a:solidFill>
                <a:latin typeface="Georgia"/>
              </a:rPr>
              <a:t>20 minutes and your honest opinion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8070"/>
                </a:solidFill>
                <a:latin typeface="Calibri"/>
              </a:rPr>
              <a:t>Δεν πουλάω τίποτα — ζητώ εμπειρογνωμοσύνη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11274552" cy="27432"/>
          </a:xfrm>
          <a:prstGeom prst="rect">
            <a:avLst/>
          </a:prstGeom>
          <a:solidFill>
            <a:srgbClr val="C9AA7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274552" cy="868680"/>
          </a:xfrm>
          <a:prstGeom prst="rect">
            <a:avLst/>
          </a:prstGeom>
          <a:solidFill>
            <a:srgbClr val="F5F0E8"/>
          </a:solidFill>
          <a:ln w="6350">
            <a:solidFill>
              <a:srgbClr val="C9A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I am a doctoral researcher, not a salesperson. HealthLedgerAI is a research prototype I am developing as part of my PhD on billing compliance in private healthcare in Greece and Cyprus. I signed a Non-Disclosure Agreement with you before this meeting — everything I share stays protected, and everything you share with me stays within the bounds of that agreement.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1274552" cy="347472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Four questions I would like to ask you: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solidFill>
            <a:srgbClr val="EBF2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D6B52"/>
                </a:solidFill>
                <a:latin typeface="Georgia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246120"/>
            <a:ext cx="105887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35584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Do the billing error types this prototype detects reflect real problems you encounter in your billing process?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41063"/>
            <a:ext cx="640080" cy="640080"/>
          </a:xfrm>
          <a:prstGeom prst="rect">
            <a:avLst/>
          </a:prstGeom>
          <a:solidFill>
            <a:srgbClr val="EBF2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50791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D6B52"/>
                </a:solidFill>
                <a:latin typeface="Georgia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941063"/>
            <a:ext cx="10588752" cy="640080"/>
          </a:xfrm>
          <a:prstGeom prst="rect">
            <a:avLst/>
          </a:prstGeom>
          <a:solidFill>
            <a:srgbClr val="F5F0E8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050791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Are there error types I have missed that are common in fertility clinic billing in Greece?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36007"/>
            <a:ext cx="640080" cy="640080"/>
          </a:xfrm>
          <a:prstGeom prst="rect">
            <a:avLst/>
          </a:prstGeom>
          <a:solidFill>
            <a:srgbClr val="EBF2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4573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D6B52"/>
                </a:solidFill>
                <a:latin typeface="Georgia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636007"/>
            <a:ext cx="105887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74573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Would a tool like this be useful to your billing or administration team — even at prototype stage?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30951"/>
            <a:ext cx="640080" cy="640080"/>
          </a:xfrm>
          <a:prstGeom prst="rect">
            <a:avLst/>
          </a:prstGeom>
          <a:solidFill>
            <a:srgbClr val="EBF2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4067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D6B52"/>
                </a:solidFill>
                <a:latin typeface="Georgia"/>
              </a:rP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5330951"/>
            <a:ext cx="10588752" cy="640080"/>
          </a:xfrm>
          <a:prstGeom prst="rect">
            <a:avLst/>
          </a:prstGeom>
          <a:solidFill>
            <a:srgbClr val="F5F0E8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44067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438"/>
                </a:solidFill>
                <a:latin typeface="Calibri"/>
              </a:rPr>
              <a:t>Would you provide a short written statement that you reviewed this prototype? (Voluntary — for my doctoral research record only.)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5074920"/>
            <a:ext cx="11868912" cy="36576"/>
          </a:xfrm>
          <a:prstGeom prst="rect">
            <a:avLst/>
          </a:prstGeom>
          <a:solidFill>
            <a:srgbClr val="A0855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6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090"/>
                </a:solidFill>
                <a:latin typeface="Calibri"/>
              </a:rPr>
              <a:t>healthledgerai.com  ·  info@healthledgerai.com  ·  All content covered by 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8070"/>
                </a:solidFill>
                <a:latin typeface="Calibri"/>
              </a:rPr>
              <a:t>7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8558"/>
                </a:solidFill>
                <a:latin typeface="Calibri"/>
              </a:rPr>
              <a:t>ABOUT THE RESEARCHER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1323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Maria Polychroniadou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898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5B8"/>
                </a:solidFill>
                <a:latin typeface="Calibri"/>
              </a:rPr>
              <a:t>PhD Researcher  ·  HealthLedgerAI Founder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120640" cy="384048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751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Academic Background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77440"/>
            <a:ext cx="54864" cy="384048"/>
          </a:xfrm>
          <a:prstGeom prst="rect">
            <a:avLst/>
          </a:prstGeom>
          <a:solidFill>
            <a:srgbClr val="A0855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140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5B8"/>
                </a:solidFill>
                <a:latin typeface="Calibri"/>
              </a:rPr>
              <a:t>BSc  International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54864" cy="384048"/>
          </a:xfrm>
          <a:prstGeom prst="rect">
            <a:avLst/>
          </a:prstGeom>
          <a:solidFill>
            <a:srgbClr val="A0855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712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5B8"/>
                </a:solidFill>
                <a:latin typeface="Calibri"/>
              </a:rPr>
              <a:t>MSc  Accounting &amp; Finance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54864" cy="384048"/>
          </a:xfrm>
          <a:prstGeom prst="rect">
            <a:avLst/>
          </a:prstGeom>
          <a:solidFill>
            <a:srgbClr val="A0855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284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5B8"/>
                </a:solidFill>
                <a:latin typeface="Calibri"/>
              </a:rPr>
              <a:t>PhD candidate — AI &amp; billing compliance in private healthcare (Greece &amp; Cyprus)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54864" cy="384048"/>
          </a:xfrm>
          <a:prstGeom prst="rect">
            <a:avLst/>
          </a:prstGeom>
          <a:solidFill>
            <a:srgbClr val="A0855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8561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5B8"/>
                </a:solidFill>
                <a:latin typeface="Calibri"/>
              </a:rPr>
              <a:t>Erasmus for Young Entrepreneurs — Thessaloniki,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920240"/>
            <a:ext cx="5303520" cy="384048"/>
          </a:xfrm>
          <a:prstGeom prst="rect">
            <a:avLst/>
          </a:prstGeom>
          <a:solidFill>
            <a:srgbClr val="A0855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9751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14"/>
                </a:solidFill>
                <a:latin typeface="Calibri"/>
              </a:rPr>
              <a:t>HealthLedgerAI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377440"/>
            <a:ext cx="54864" cy="384048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4140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5B8"/>
                </a:solidFill>
                <a:latin typeface="Calibri"/>
              </a:rPr>
              <a:t>Pre-launch research prototype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834640"/>
            <a:ext cx="54864" cy="384048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8712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5B8"/>
                </a:solidFill>
                <a:latin typeface="Calibri"/>
              </a:rPr>
              <a:t>11 billing error detectors built and tested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291840"/>
            <a:ext cx="54864" cy="384048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3284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5B8"/>
                </a:solidFill>
                <a:latin typeface="Calibri"/>
              </a:rPr>
              <a:t>Applied to EIT Jumpstarter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749039"/>
            <a:ext cx="54864" cy="384048"/>
          </a:xfrm>
          <a:prstGeom prst="rect">
            <a:avLst/>
          </a:prstGeom>
          <a:solidFill>
            <a:srgbClr val="3D6B5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78561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5B8"/>
                </a:solidFill>
                <a:latin typeface="Calibri"/>
              </a:rPr>
              <a:t>Target: EIC Pre-Accelerator 2027 (€500K–€1M grant)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30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070"/>
                </a:solidFill>
                <a:latin typeface="Calibri"/>
              </a:rPr>
              <a:t>healthledgerai.com  ·  info@healthledgerai.com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